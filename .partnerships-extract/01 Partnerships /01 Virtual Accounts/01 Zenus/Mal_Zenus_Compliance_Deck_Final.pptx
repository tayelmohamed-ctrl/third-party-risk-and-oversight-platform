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embeddedFontLst>
    <p:embeddedFont>
      <p:font typeface="Helvetica Neue"/>
      <p:regular r:id="rId14"/>
      <p:bold r:id="rId15"/>
      <p:italic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uvma7CB/ZY5A0NsaxTx2OZFcgF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Tayel Mohamed"/>
  <p:cmAuthor clrIdx="1" id="1" initials="" lastIdx="1" name="Jasmin Sulj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HelveticaNeue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07T23:01:28.554">
    <p:pos x="6000" y="0"/>
    <p:text>Business Continuity Plan (BCP): The deck does not mention developing or maintaining a BCP for operational continuity during disasters or cyber events.
GLBA Safeguard Rules: There is no confirmation of compliance with the Gramm-Leach-Bliley Act (GLBA) Safeguard Rules (16 C.F.R. 314) or specific state data breach notification laws (e.g., Ley Núm. 111-2005), which are mandatory for MSBs. While technical controls are detailed, the overarching policy compliance is unstated.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8yUz-o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4-06T12:39:53.418">
    <p:pos x="288" y="1393"/>
    <p:text>@abdullah.pehlic@mal.ai we do not do any sanction screening at this time - we should do OFAC screening. Create this as dedicated sub-work item for Sprint 3 and lets have this discussed with the team.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CuTI-Y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07T23:00:12.139">
    <p:pos x="3024" y="2299"/>
    <p:text>"Within 15 days".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8yUz-k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07T23:02:11.939">
    <p:pos x="6000" y="0"/>
    <p:text>Travel Rule Compliance for Virtual Assets: The plan includes USDC mint/burn and stablecoin off-ramp settlement via a "compliant VASP". However, the deck does not specify the technical mechanism or protocol (Layer 2/3) used to comply with the FATF Travel Rule, which requires Virtual Asset Service Providers (VASPs) to collect and transmit required originator and beneficiary information when processing virtual asset transactions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8yUz-s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e51d49f48_0_0:notes"/>
          <p:cNvSpPr txBox="1"/>
          <p:nvPr>
            <p:ph idx="1" type="body"/>
          </p:nvPr>
        </p:nvSpPr>
        <p:spPr>
          <a:xfrm>
            <a:off x="532284" y="4400376"/>
            <a:ext cx="40791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g3ce51d49f48_0_0:notes"/>
          <p:cNvSpPr/>
          <p:nvPr>
            <p:ph idx="2" type="sldImg"/>
          </p:nvPr>
        </p:nvSpPr>
        <p:spPr>
          <a:xfrm>
            <a:off x="532284" y="548888"/>
            <a:ext cx="4079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e51d49f48_0_64"/>
          <p:cNvSpPr/>
          <p:nvPr/>
        </p:nvSpPr>
        <p:spPr>
          <a:xfrm>
            <a:off x="4616" y="0"/>
            <a:ext cx="9139383" cy="5143500"/>
          </a:xfrm>
          <a:custGeom>
            <a:rect b="b" l="l" r="r" t="t"/>
            <a:pathLst>
              <a:path extrusionOk="0" h="6858000" w="12185844">
                <a:moveTo>
                  <a:pt x="3764812" y="0"/>
                </a:moveTo>
                <a:lnTo>
                  <a:pt x="12185844" y="0"/>
                </a:lnTo>
                <a:lnTo>
                  <a:pt x="12185844" y="2922755"/>
                </a:lnTo>
                <a:lnTo>
                  <a:pt x="12082724" y="2833430"/>
                </a:lnTo>
                <a:cubicBezTo>
                  <a:pt x="11126643" y="2044402"/>
                  <a:pt x="9900925" y="1570421"/>
                  <a:pt x="8564502" y="1570421"/>
                </a:cubicBezTo>
                <a:cubicBezTo>
                  <a:pt x="5605281" y="1570421"/>
                  <a:pt x="3188848" y="3894378"/>
                  <a:pt x="3040711" y="6816785"/>
                </a:cubicBezTo>
                <a:lnTo>
                  <a:pt x="3039669" y="6858000"/>
                </a:lnTo>
                <a:lnTo>
                  <a:pt x="0" y="6858000"/>
                </a:lnTo>
                <a:lnTo>
                  <a:pt x="4997" y="6660364"/>
                </a:lnTo>
                <a:cubicBezTo>
                  <a:pt x="138284" y="4030926"/>
                  <a:pt x="1456609" y="1714140"/>
                  <a:pt x="3436541" y="233438"/>
                </a:cubicBezTo>
                <a:lnTo>
                  <a:pt x="37648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g3ce51d49f48_0_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g3ce51d49f48_0_64"/>
          <p:cNvSpPr/>
          <p:nvPr/>
        </p:nvSpPr>
        <p:spPr>
          <a:xfrm>
            <a:off x="1" y="0"/>
            <a:ext cx="2828225" cy="5143500"/>
          </a:xfrm>
          <a:custGeom>
            <a:rect b="b" l="l" r="r" t="t"/>
            <a:pathLst>
              <a:path extrusionOk="0" h="6858000" w="3770967">
                <a:moveTo>
                  <a:pt x="0" y="0"/>
                </a:moveTo>
                <a:lnTo>
                  <a:pt x="3770967" y="0"/>
                </a:lnTo>
                <a:lnTo>
                  <a:pt x="3442696" y="233438"/>
                </a:lnTo>
                <a:cubicBezTo>
                  <a:pt x="1462764" y="1714140"/>
                  <a:pt x="144439" y="4030926"/>
                  <a:pt x="11152" y="6660364"/>
                </a:cubicBezTo>
                <a:lnTo>
                  <a:pt x="615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3ce51d49f48_0_64"/>
          <p:cNvSpPr/>
          <p:nvPr/>
        </p:nvSpPr>
        <p:spPr>
          <a:xfrm>
            <a:off x="2284369" y="1177817"/>
            <a:ext cx="6859631" cy="3965684"/>
          </a:xfrm>
          <a:custGeom>
            <a:rect b="b" l="l" r="r" t="t"/>
            <a:pathLst>
              <a:path extrusionOk="0" h="5287579" w="9146175">
                <a:moveTo>
                  <a:pt x="5524833" y="0"/>
                </a:moveTo>
                <a:cubicBezTo>
                  <a:pt x="6861256" y="0"/>
                  <a:pt x="8086974" y="473981"/>
                  <a:pt x="9043055" y="1263009"/>
                </a:cubicBezTo>
                <a:lnTo>
                  <a:pt x="9146175" y="1352334"/>
                </a:lnTo>
                <a:lnTo>
                  <a:pt x="9146175" y="5287579"/>
                </a:lnTo>
                <a:lnTo>
                  <a:pt x="0" y="5287579"/>
                </a:lnTo>
                <a:lnTo>
                  <a:pt x="1042" y="5246364"/>
                </a:lnTo>
                <a:cubicBezTo>
                  <a:pt x="149179" y="2323957"/>
                  <a:pt x="2565612" y="0"/>
                  <a:pt x="5524833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ce51d49f48_0_64"/>
          <p:cNvSpPr txBox="1"/>
          <p:nvPr>
            <p:ph idx="1" type="body"/>
          </p:nvPr>
        </p:nvSpPr>
        <p:spPr>
          <a:xfrm>
            <a:off x="4044332" y="4653209"/>
            <a:ext cx="468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b="0" i="0" sz="1100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3ce51d49f48_0_64"/>
          <p:cNvSpPr txBox="1"/>
          <p:nvPr>
            <p:ph idx="2" type="subTitle"/>
          </p:nvPr>
        </p:nvSpPr>
        <p:spPr>
          <a:xfrm>
            <a:off x="4044332" y="4134344"/>
            <a:ext cx="4681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Char char="●"/>
              <a:defRPr b="0" i="0" sz="1500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5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g3ce51d49f48_0_64"/>
          <p:cNvSpPr txBox="1"/>
          <p:nvPr>
            <p:ph type="title"/>
          </p:nvPr>
        </p:nvSpPr>
        <p:spPr>
          <a:xfrm>
            <a:off x="4044332" y="3059567"/>
            <a:ext cx="468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b="1" i="0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" name="Google Shape;19;g3ce51d49f48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9758" y="1757903"/>
            <a:ext cx="2075641" cy="85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4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g3ce51d49f4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ce51d49f48_0_0"/>
          <p:cNvSpPr txBox="1"/>
          <p:nvPr>
            <p:ph type="title"/>
          </p:nvPr>
        </p:nvSpPr>
        <p:spPr>
          <a:xfrm>
            <a:off x="410775" y="2865976"/>
            <a:ext cx="58968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Global Accounts </a:t>
            </a:r>
            <a:endParaRPr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667"/>
              <a:buFont typeface="Calibri"/>
              <a:buNone/>
            </a:pPr>
            <a:r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Compliance &amp; Risk Program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logo&#10;&#10;AI-generated content may be incorrect." id="26" name="Google Shape;26;g3ce51d49f4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815" y="1625206"/>
            <a:ext cx="1857392" cy="100608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ce51d49f48_0_0"/>
          <p:cNvSpPr/>
          <p:nvPr/>
        </p:nvSpPr>
        <p:spPr>
          <a:xfrm>
            <a:off x="410770" y="3613555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400"/>
              <a:buFont typeface="Calibri"/>
              <a:buNone/>
            </a:pPr>
            <a:r>
              <a:rPr lang="en-US" sz="1500">
                <a:solidFill>
                  <a:schemeClr val="lt1"/>
                </a:solidFill>
              </a:rPr>
              <a:t>Pakistan-First USD Account · Zenus Partnership Review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8" name="Google Shape;28;g3ce51d49f48_0_0"/>
          <p:cNvSpPr/>
          <p:nvPr/>
        </p:nvSpPr>
        <p:spPr>
          <a:xfrm>
            <a:off x="410770" y="45962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</a:rPr>
              <a:t>11</a:t>
            </a: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March 2026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200">
                <a:solidFill>
                  <a:srgbClr val="F2F2F2"/>
                </a:solidFill>
              </a:rPr>
              <a:t>confidential</a:t>
            </a:r>
            <a:r>
              <a:rPr i="1" lang="en-US" sz="1200">
                <a:solidFill>
                  <a:srgbClr val="F2F2F2"/>
                </a:solidFill>
              </a:rPr>
              <a:t> </a:t>
            </a:r>
            <a:endParaRPr i="1" sz="12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The Pakistan Opportunity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A large, underserved, and USD-earning market </a:t>
            </a:r>
            <a:r>
              <a:rPr lang="en-US" sz="1300">
                <a:solidFill>
                  <a:srgbClr val="475569"/>
                </a:solidFill>
              </a:rPr>
              <a:t>-</a:t>
            </a:r>
            <a:r>
              <a:rPr i="0" lang="en-US" sz="1300" u="none" cap="none" strike="noStrike">
                <a:solidFill>
                  <a:srgbClr val="475569"/>
                </a:solidFill>
              </a:rPr>
              <a:t> non-sanctioned, high-demand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371538" y="1463058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481265" y="1581929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</a:rPr>
              <a:t>4.2M+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81265" y="2075706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1E293B"/>
                </a:solidFill>
              </a:rPr>
              <a:t>Registered freelancers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81265" y="2441466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i="0" lang="en-US" sz="800" u="none" cap="none" strike="noStrike">
                <a:solidFill>
                  <a:srgbClr val="94A3B8"/>
                </a:solidFill>
              </a:rPr>
              <a:t>Source: Payoneer / SBP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566098" y="1463058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675825" y="1581929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</a:rPr>
              <a:t>$700M+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675825" y="2075706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1E293B"/>
                </a:solidFill>
              </a:rPr>
              <a:t>Annual freelance remittances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675825" y="2441466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i="0" lang="en-US" sz="800" u="none" cap="none" strike="noStrike">
                <a:solidFill>
                  <a:srgbClr val="94A3B8"/>
                </a:solidFill>
              </a:rPr>
              <a:t>Source: SBP FY2023-24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760658" y="1463058"/>
            <a:ext cx="20118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870386" y="1581929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</a:rPr>
              <a:t>$1.6B+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870386" y="2075706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1E293B"/>
                </a:solidFill>
              </a:rPr>
              <a:t>IT/digital exports FY2024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870386" y="2441466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i="0" lang="en-US" sz="800" u="none" cap="none" strike="noStrike">
                <a:solidFill>
                  <a:srgbClr val="94A3B8"/>
                </a:solidFill>
              </a:rPr>
              <a:t>Source: PSEB Annual Report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2834640"/>
            <a:ext cx="402336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57200" y="2834640"/>
            <a:ext cx="64008" cy="19659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Why This Works for Zenus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3246120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Pakistan is NOT a sanctioned country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Strong USD inflow demand </a:t>
            </a:r>
            <a:r>
              <a:rPr lang="en-US" sz="1000">
                <a:solidFill>
                  <a:srgbClr val="475569"/>
                </a:solidFill>
              </a:rPr>
              <a:t>- 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income earned in the US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ACH is the natural rail </a:t>
            </a:r>
            <a:r>
              <a:rPr lang="en-US" sz="1000">
                <a:solidFill>
                  <a:srgbClr val="475569"/>
                </a:solidFill>
              </a:rPr>
              <a:t>- 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Zenus FBO is the right infra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CNIC/NICOP enables verified, documented KYC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High conversion potential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400K+ addressable users at 10% penetration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663440" y="2834640"/>
            <a:ext cx="4023360" cy="196596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663440" y="2834640"/>
            <a:ext cx="64008" cy="1965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Risk Profile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846320" y="3246120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CBD5E1"/>
                </a:solidFill>
              </a:rPr>
              <a:t>Non-sanctioned jurisdiction (OFAC clear)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CBD5E1"/>
                </a:solidFill>
              </a:rPr>
              <a:t>USD-earning segment</a:t>
            </a:r>
            <a:r>
              <a:rPr lang="en-US" sz="1000">
                <a:solidFill>
                  <a:srgbClr val="CBD5E1"/>
                </a:solidFill>
              </a:rPr>
              <a:t>- </a:t>
            </a:r>
            <a:r>
              <a:rPr i="0" lang="en-US" sz="1000" u="none" cap="none" strike="noStrike">
                <a:solidFill>
                  <a:srgbClr val="CBD5E1"/>
                </a:solidFill>
              </a:rPr>
              <a:t> legitimate income sources (Upwork, Fiverr, employer payroll)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CBD5E1"/>
                </a:solidFill>
              </a:rPr>
              <a:t>FATF grey-listed</a:t>
            </a:r>
            <a:r>
              <a:rPr lang="en-US" sz="1000">
                <a:solidFill>
                  <a:srgbClr val="CBD5E1"/>
                </a:solidFill>
              </a:rPr>
              <a:t>- </a:t>
            </a:r>
            <a:r>
              <a:rPr i="0" lang="en-US" sz="1000" u="none" cap="none" strike="noStrike">
                <a:solidFill>
                  <a:srgbClr val="CBD5E1"/>
                </a:solidFill>
              </a:rPr>
              <a:t> managed via EDD protocol (not restricted)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CBD5E1"/>
                </a:solidFill>
              </a:rPr>
              <a:t>Full CNIC/NICOP document verification at onboarding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Compliance Architecture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Three independent layers </a:t>
            </a:r>
            <a:r>
              <a:rPr lang="en-US" sz="1300">
                <a:solidFill>
                  <a:srgbClr val="475569"/>
                </a:solidFill>
              </a:rPr>
              <a:t>- </a:t>
            </a:r>
            <a:r>
              <a:rPr i="0" lang="en-US" sz="1300" u="none" cap="none" strike="noStrike">
                <a:solidFill>
                  <a:srgbClr val="475569"/>
                </a:solidFill>
              </a:rPr>
              <a:t>MSB foundation, orchestration, identity verification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417320"/>
            <a:ext cx="260604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94360" y="15727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Layer 1: MSB Foundation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3B82F6"/>
                </a:solidFill>
              </a:rPr>
              <a:t>via Mal Money Inc.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94360" y="2212848"/>
            <a:ext cx="2377440" cy="2487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FinCEN-registered MSB (Montana)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BSA/AML Compliance Program</a:t>
            </a:r>
            <a:r>
              <a:rPr lang="en-US" sz="1000">
                <a:solidFill>
                  <a:srgbClr val="475569"/>
                </a:solidFill>
              </a:rPr>
              <a:t> 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active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OFAC sanctions screening</a:t>
            </a:r>
            <a:r>
              <a:rPr lang="en-US" sz="1000">
                <a:solidFill>
                  <a:srgbClr val="475569"/>
                </a:solidFill>
              </a:rPr>
              <a:t> 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active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Angel Wesley CLO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program oversight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Head of Compliance / MLRO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hiring for Global Accounts 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246120" y="1417320"/>
            <a:ext cx="260604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246120" y="1417320"/>
            <a:ext cx="260604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3383280" y="15727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Layer 2: Risk Orchestration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383280" y="1920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14B8A6"/>
                </a:solidFill>
              </a:rPr>
              <a:t>via Oscilar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383280" y="2212848"/>
            <a:ext cx="2377440" cy="2487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Real-time risk decisioning engine</a:t>
            </a:r>
            <a:endParaRPr sz="100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lang="en-US" sz="1000">
                <a:solidFill>
                  <a:srgbClr val="475569"/>
                </a:solidFill>
              </a:rPr>
              <a:t>Risk-tiered escalation - drives Tier 1 → 2 → 3 automatically</a:t>
            </a:r>
            <a:endParaRPr sz="100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Transaction monitoring + velocity rules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Device fingerprinting + fraud scoring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Configurable rules for PK corridor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SAR/CTR workflow automation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035040" y="1417320"/>
            <a:ext cx="260604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035040" y="1417320"/>
            <a:ext cx="260604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172200" y="15727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Layer 3: Identity Verification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172200" y="1920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10B981"/>
                </a:solidFill>
              </a:rPr>
              <a:t>via </a:t>
            </a:r>
            <a:r>
              <a:rPr i="1" lang="en-US" sz="900">
                <a:solidFill>
                  <a:srgbClr val="10B981"/>
                </a:solidFill>
              </a:rPr>
              <a:t>Shufti /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126475" y="2212875"/>
            <a:ext cx="2469000" cy="24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CNIC / NICOP document verification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Pakistani national ID native support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Biometric liveness checks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PEP / sanctions screening at onboarding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Re-verification triggers on risk events</a:t>
            </a:r>
            <a:endParaRPr i="0" sz="1000" u="none" cap="none" strike="noStrike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lang="en-US" sz="1000">
                <a:solidFill>
                  <a:srgbClr val="475569"/>
                </a:solidFill>
              </a:rPr>
              <a:t>Fuzzy logic adverse media screening at 70-80% threshold covers consumer, their FI, counterparty, and counterparty FI</a:t>
            </a:r>
            <a:endParaRPr sz="100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lang="en-US" sz="1000">
                <a:solidFill>
                  <a:srgbClr val="475569"/>
                </a:solidFill>
              </a:rPr>
              <a:t> ID validity check,  document must not expire within 6 months of onboarding</a:t>
            </a:r>
            <a:endParaRPr sz="100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Pakistan EDD Framework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Specific enhanced due diligence for non-sanctioned high-risk corridor customers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1417320"/>
            <a:ext cx="260610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57200" y="1417320"/>
            <a:ext cx="2606100" cy="54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27400" y="1572800"/>
            <a:ext cx="251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rgbClr val="1E293B"/>
                </a:solidFill>
              </a:rPr>
              <a:t>T</a:t>
            </a:r>
            <a:r>
              <a:rPr b="1" i="0" lang="en-US" sz="1100" u="none" cap="none" strike="noStrike">
                <a:solidFill>
                  <a:srgbClr val="1E293B"/>
                </a:solidFill>
              </a:rPr>
              <a:t>IER 1 </a:t>
            </a:r>
            <a:r>
              <a:rPr b="1" lang="en-US" sz="1100">
                <a:solidFill>
                  <a:srgbClr val="1E293B"/>
                </a:solidFill>
              </a:rPr>
              <a:t>-</a:t>
            </a:r>
            <a:r>
              <a:rPr b="1" i="0" lang="en-US" sz="1100" u="none" cap="none" strike="noStrike">
                <a:solidFill>
                  <a:srgbClr val="1E293B"/>
                </a:solidFill>
              </a:rPr>
              <a:t> Standard (All Users)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8750" y="2212850"/>
            <a:ext cx="2606100" cy="24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CNIC/NICOP + biometric liveness (Shufti/Uqudo)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Phone + email verification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Income source declaration (dropdown, no docs)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OFAC</a:t>
            </a:r>
            <a:r>
              <a:rPr lang="en-US" sz="1000">
                <a:solidFill>
                  <a:srgbClr val="475569"/>
                </a:solidFill>
              </a:rPr>
              <a:t> + PEP screening at onboarding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Base limits: $500/mo receive · $200/mo card spend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Account expectation questions: purpose, expected volume, counterparties, card usage 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ID validity: CNIC/NICOP or passport not expiring within 6 months</a:t>
            </a:r>
            <a:endParaRPr sz="1000">
              <a:solidFill>
                <a:srgbClr val="475569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</a:rPr>
              <a:t> 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246120" y="1417320"/>
            <a:ext cx="260610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246120" y="1417320"/>
            <a:ext cx="2606100" cy="549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290225" y="1572800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rgbClr val="1E293B"/>
                </a:solidFill>
              </a:rPr>
              <a:t>TIER 2 - Elevated Access </a:t>
            </a:r>
            <a:endParaRPr b="1" sz="1100">
              <a:solidFill>
                <a:srgbClr val="1E293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rgbClr val="1E293B"/>
                </a:solidFill>
              </a:rPr>
              <a:t>(Usage or Risk Trigger)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94175" y="2020775"/>
            <a:ext cx="2513100" cy="18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Address verification: utility bill or bank statement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Triggered by: limit request or risk score threshold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Unlocks: $5,000/mo receive · full card spend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Secondary ID: passport or national ID (full name, DOB, nationality)</a:t>
            </a:r>
            <a:endParaRPr sz="1000">
              <a:solidFill>
                <a:srgbClr val="475569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035040" y="1417320"/>
            <a:ext cx="260610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035040" y="1417320"/>
            <a:ext cx="2606100" cy="549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103550" y="1572800"/>
            <a:ext cx="251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rgbClr val="1E293B"/>
                </a:solidFill>
              </a:rPr>
              <a:t>TIER 3 - EDD (High-Risk Flags Only)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172200" y="2212848"/>
            <a:ext cx="2377500" cy="24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EDD triggered post-first transaction, not at onboarding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Source of Funds: 3-6 months supporting docs 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Source of Wealth: high-value consumers only — tax returns, business or asset docs 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Annual KYC refresh (1-year cycle)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Senior management approval before account remains active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Enhanced monitoring cadence via Oscilar</a:t>
            </a:r>
            <a:endParaRPr sz="1000">
              <a:solidFill>
                <a:srgbClr val="475569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●"/>
            </a:pPr>
            <a:r>
              <a:rPr lang="en-US" sz="1000">
                <a:solidFill>
                  <a:srgbClr val="475569"/>
                </a:solidFill>
              </a:rPr>
              <a:t>Non-compliance within X days → account restriction</a:t>
            </a:r>
            <a:endParaRPr sz="1000">
              <a:solidFill>
                <a:srgbClr val="47556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Fraud &amp; Technical Risk Controls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How we prevent, detect and mitigate fraud risk at a technical level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1417325"/>
            <a:ext cx="4023300" cy="173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1417320"/>
            <a:ext cx="402336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94360" y="15270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Identity Controls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94360" y="1828800"/>
            <a:ext cx="3749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CNIC/NICOP biometric verification (</a:t>
            </a:r>
            <a:r>
              <a:rPr lang="en-US" sz="950">
                <a:solidFill>
                  <a:srgbClr val="475569"/>
                </a:solidFill>
              </a:rPr>
              <a:t>Shufti/Uqudo</a:t>
            </a:r>
            <a:r>
              <a:rPr i="0" lang="en-US" sz="950" u="none" cap="none" strike="noStrike">
                <a:solidFill>
                  <a:srgbClr val="475569"/>
                </a:solidFill>
              </a:rPr>
              <a:t>)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Liveness detection </a:t>
            </a:r>
            <a:r>
              <a:rPr lang="en-US" sz="950">
                <a:solidFill>
                  <a:srgbClr val="475569"/>
                </a:solidFill>
              </a:rPr>
              <a:t>-</a:t>
            </a:r>
            <a:r>
              <a:rPr i="0" lang="en-US" sz="950" u="none" cap="none" strike="noStrike">
                <a:solidFill>
                  <a:srgbClr val="475569"/>
                </a:solidFill>
              </a:rPr>
              <a:t> anti-spoofing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Document authenticity validation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Multi-factor authentication at login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Email + phone OTP verification</a:t>
            </a:r>
            <a:endParaRPr i="0" sz="950" u="none" cap="none" strike="noStrike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lang="en-US" sz="950">
                <a:solidFill>
                  <a:srgbClr val="475569"/>
                </a:solidFill>
              </a:rPr>
              <a:t>Deep fake prevention -  liveness provider vetted for AI-generated attempts</a:t>
            </a:r>
            <a:endParaRPr sz="950">
              <a:solidFill>
                <a:srgbClr val="475569"/>
              </a:solidFill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663449" y="1417325"/>
            <a:ext cx="4023300" cy="173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663440" y="1417320"/>
            <a:ext cx="402336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800600" y="15270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Transaction Controls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800609" y="1862829"/>
            <a:ext cx="37491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Velocity rules: daily/weekly ACH limits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Geo-IP mismatch flagging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Structuring detection (sub-threshold patterns)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Round-number + repetitive transaction alerts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Pass-through account pattern detection</a:t>
            </a:r>
            <a:endParaRPr i="0" sz="950" u="none" cap="none" strike="noStrike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lang="en-US" sz="950">
                <a:solidFill>
                  <a:srgbClr val="475569"/>
                </a:solidFill>
              </a:rPr>
              <a:t>Limits enforced per tier, velocity rules calibrated per risk level</a:t>
            </a:r>
            <a:endParaRPr sz="950">
              <a:solidFill>
                <a:srgbClr val="475569"/>
              </a:solidFill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3298343"/>
            <a:ext cx="4023300" cy="173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57200" y="3154680"/>
            <a:ext cx="402336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94360" y="3346783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Account Controls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94350" y="3650700"/>
            <a:ext cx="38862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Dormant account reactivation triggers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Device fingerprint consistency checks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TOR / VPN usage flagging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Failed authentication lockout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Card freeze + instant suspend capability</a:t>
            </a:r>
            <a:endParaRPr sz="95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lang="en-US" sz="950">
                <a:solidFill>
                  <a:srgbClr val="475569"/>
                </a:solidFill>
              </a:rPr>
              <a:t>Risk-tier escalation automated, no manual bottleneck</a:t>
            </a:r>
            <a:endParaRPr sz="95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lang="en-US" sz="950">
                <a:solidFill>
                  <a:srgbClr val="475569"/>
                </a:solidFill>
              </a:rPr>
              <a:t>Progressive document collection triggered in-app at tier threshold</a:t>
            </a:r>
            <a:endParaRPr sz="95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lang="en-US" sz="950">
                <a:solidFill>
                  <a:srgbClr val="475569"/>
                </a:solidFill>
              </a:rPr>
              <a:t>Geographic risk scoring: border region flagging applied at account level</a:t>
            </a:r>
            <a:endParaRPr sz="950">
              <a:solidFill>
                <a:srgbClr val="475569"/>
              </a:solidFill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663449" y="3298343"/>
            <a:ext cx="4023300" cy="173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663440" y="3154680"/>
            <a:ext cx="402336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800608" y="334145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</a:rPr>
              <a:t>Reporting &amp; Escalation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800601" y="3650693"/>
            <a:ext cx="37491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SAR filing: 30-day window from detection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CTR: &gt;$10K cash-equivalent transactions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OFAC blocking / rejection: 10-day report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L1 → L2 → MLRO escalation matrix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FinCEN 314(a) search within 2-week window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Compliance Governance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In-place now and roadmap to full staffing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1417320"/>
            <a:ext cx="411480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1417320"/>
            <a:ext cx="64008" cy="2606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15361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</a:rPr>
              <a:t>IN PLACE TODAY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40080" y="1847088"/>
            <a:ext cx="37490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Mal Money Inc. </a:t>
            </a:r>
            <a:r>
              <a:rPr lang="en-US" sz="1000">
                <a:solidFill>
                  <a:srgbClr val="475569"/>
                </a:solidFill>
              </a:rPr>
              <a:t>- 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FinCEN MSB registered (Montana, Jan 2026)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BSA/AML Compliance Program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OFAC sanctions screening program 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Angel Wesley, CLO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compliance oversight and representation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Fractional CO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policy framework support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UAE compliance firm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additional EDD framework input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754880" y="1417320"/>
            <a:ext cx="411480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754880" y="1417320"/>
            <a:ext cx="64008" cy="260604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937760" y="15361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</a:rPr>
              <a:t>HIRING ROADMAP (60 DAYS)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937760" y="1847088"/>
            <a:ext cx="37490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b="1" i="0" lang="en-US" sz="1000" u="none" cap="none" strike="noStrike">
                <a:solidFill>
                  <a:srgbClr val="475569"/>
                </a:solidFill>
              </a:rPr>
              <a:t>Head of Compliance dedicated to Pakistan corridor </a:t>
            </a:r>
            <a:r>
              <a:rPr b="1" lang="en-US" sz="1000">
                <a:solidFill>
                  <a:srgbClr val="475569"/>
                </a:solidFill>
              </a:rPr>
              <a:t>-</a:t>
            </a:r>
            <a:r>
              <a:rPr b="1" i="0" lang="en-US" sz="1000" u="none" cap="none" strike="noStrike">
                <a:solidFill>
                  <a:srgbClr val="475569"/>
                </a:solidFill>
              </a:rPr>
              <a:t> joining </a:t>
            </a:r>
            <a:r>
              <a:rPr b="1" lang="en-US" sz="1000">
                <a:solidFill>
                  <a:srgbClr val="475569"/>
                </a:solidFill>
              </a:rPr>
              <a:t>soon</a:t>
            </a:r>
            <a:endParaRPr b="1" sz="1000">
              <a:solidFill>
                <a:srgbClr val="475569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Profile: Stripe, Brex, or BaaS program manager experience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CMS framework build </a:t>
            </a:r>
            <a:r>
              <a:rPr lang="en-US" sz="1000">
                <a:solidFill>
                  <a:srgbClr val="475569"/>
                </a:solidFill>
              </a:rPr>
              <a:t>- 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covers Zenus Schedule 4.1a requirements fully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TMS rules deployment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Oscilar fully configured for PK corridor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Char char="•"/>
            </a:pPr>
            <a:r>
              <a:rPr i="0" lang="en-US" sz="1000" u="none" cap="none" strike="noStrike">
                <a:solidFill>
                  <a:srgbClr val="475569"/>
                </a:solidFill>
              </a:rPr>
              <a:t>Risk scoring model </a:t>
            </a:r>
            <a:r>
              <a:rPr lang="en-US" sz="1000">
                <a:solidFill>
                  <a:srgbClr val="475569"/>
                </a:solidFill>
              </a:rPr>
              <a:t>-</a:t>
            </a:r>
            <a:r>
              <a:rPr i="0" lang="en-US" sz="1000" u="none" cap="none" strike="noStrike">
                <a:solidFill>
                  <a:srgbClr val="475569"/>
                </a:solidFill>
              </a:rPr>
              <a:t> operational before go-live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85800" y="42245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</a:rPr>
              <a:t>THREE LINES OF DEFENSE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85800" y="446227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CBD5E1"/>
                </a:solidFill>
              </a:rPr>
              <a:t>1st Line: Operations / KYC agents → flag + escalate   |   2nd Line: Compliance Officer / CLO → policy + oversight   |   3rd Line: Independent audit → annual review + board reporting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457200" y="228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Partner &amp; Infrastructure Stack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Zenus is the core infrastructure </a:t>
            </a:r>
            <a:r>
              <a:rPr lang="en-US" sz="1300">
                <a:solidFill>
                  <a:srgbClr val="475569"/>
                </a:solidFill>
              </a:rPr>
              <a:t>-</a:t>
            </a:r>
            <a:r>
              <a:rPr i="0" lang="en-US" sz="1300" u="none" cap="none" strike="noStrike">
                <a:solidFill>
                  <a:srgbClr val="475569"/>
                </a:solidFill>
              </a:rPr>
              <a:t> the full stack around it is purpose-built for compliance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57200" y="1417320"/>
            <a:ext cx="201168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1417320"/>
            <a:ext cx="201168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66928" y="1572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</a:rPr>
              <a:t>CORE BANKING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66928" y="1783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</a:rPr>
              <a:t>Zenus Bank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66928" y="21031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3B82F6"/>
                </a:solidFill>
              </a:rPr>
              <a:t>FBO / ACH / USDC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66928" y="2423160"/>
            <a:ext cx="1828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475569"/>
                </a:solidFill>
              </a:rPr>
              <a:t>ACH-native USD account infrastructure. FBO account with VRN per-user routing numbers. USDC mint/burn via Circle.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651760" y="1417320"/>
            <a:ext cx="201168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651760" y="1417320"/>
            <a:ext cx="201168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761488" y="1572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4B8A6"/>
                </a:solidFill>
              </a:rPr>
              <a:t>CARD PROGRAM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761488" y="1783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</a:rPr>
              <a:t>Rain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761488" y="21031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14B8A6"/>
                </a:solidFill>
              </a:rPr>
              <a:t>Visa Card Issuing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761488" y="2423160"/>
            <a:ext cx="1828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475569"/>
                </a:solidFill>
              </a:rPr>
              <a:t>Virtual Visa debit card issuance. Apple Pay / Google Pay enabled. Global spend</a:t>
            </a:r>
            <a:r>
              <a:rPr lang="en-US" sz="950">
                <a:solidFill>
                  <a:srgbClr val="475569"/>
                </a:solidFill>
              </a:rPr>
              <a:t>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846320" y="1417320"/>
            <a:ext cx="201168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846320" y="1417320"/>
            <a:ext cx="201168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956048" y="1572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0B981"/>
                </a:solidFill>
              </a:rPr>
              <a:t>RISK ENGINE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956048" y="1783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</a:rPr>
              <a:t>Oscilar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956048" y="21031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10B981"/>
                </a:solidFill>
              </a:rPr>
              <a:t>Risk Orchestration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956048" y="2423160"/>
            <a:ext cx="1828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475569"/>
                </a:solidFill>
              </a:rPr>
              <a:t>Real-time risk decisioning. Transaction monitoring. Fraud scoring. Configurable rules per corridor.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040880" y="1417320"/>
            <a:ext cx="201168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040880" y="1417320"/>
            <a:ext cx="201168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7150608" y="1572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5CF6"/>
                </a:solidFill>
              </a:rPr>
              <a:t>KYC LAYER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50608" y="1783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93B"/>
                </a:solidFill>
              </a:rPr>
              <a:t>Shufti / Uqudo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50608" y="21031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8B5CF6"/>
                </a:solidFill>
              </a:rPr>
              <a:t>KYC / Identity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150608" y="2423160"/>
            <a:ext cx="1828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475569"/>
                </a:solidFill>
              </a:rPr>
              <a:t>CNIC/NICOP verification. Biometric liveness. PEP + sanctions screening. Pakistani ID-native.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85800" y="43251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</a:rPr>
              <a:t>SaturnX / SwiftX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560320" y="43251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CBD5E1"/>
                </a:solidFill>
              </a:rPr>
              <a:t>PKR Payout Corridor  ·  USD → USDC → PKR settlement  ·  3 connected Pakistani banks + wallet providers  ·  SBP-regulated  ·  T+1 settlement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274325" y="17145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9CD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B9CD3"/>
                </a:solidFill>
                <a:latin typeface="Calibri"/>
                <a:ea typeface="Calibri"/>
                <a:cs typeface="Calibri"/>
                <a:sym typeface="Calibri"/>
              </a:rPr>
              <a:t>07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74325" y="4000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</a:rPr>
              <a:t>Launch Timeline &amp; Ask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74325" y="94869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475569"/>
                </a:solidFill>
              </a:rPr>
              <a:t>60-day sprint to May 1 public launch — what we need from Zenus to get there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74325" y="1360170"/>
            <a:ext cx="2011800" cy="310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274325" y="1360170"/>
            <a:ext cx="2011800" cy="3474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84053" y="1387602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WK 1-2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84053" y="1543123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0" lang="en-US" sz="850" u="none" cap="none" strike="noStrike">
                <a:solidFill>
                  <a:srgbClr val="FFFFFF"/>
                </a:solidFill>
              </a:rPr>
              <a:t>ONBOARD &amp; HIRE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84053" y="1817370"/>
            <a:ext cx="1828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Close Zenus + Rain contracts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Hire MLRO + 2 Sr Engineers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Compliance CMS framework start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Dev environment setup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84053" y="4103370"/>
            <a:ext cx="1737300" cy="255900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38917" y="4121658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</a:rPr>
              <a:t>Partners signed ✓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468885" y="1360170"/>
            <a:ext cx="2011800" cy="310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2468885" y="1360170"/>
            <a:ext cx="2011800" cy="3474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578613" y="1387602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WK 3-4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2578613" y="1543123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0" lang="en-US" sz="850" u="none" cap="none" strike="noStrike">
                <a:solidFill>
                  <a:srgbClr val="FFFFFF"/>
                </a:solidFill>
              </a:rPr>
              <a:t>BUILD CORE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578613" y="1817370"/>
            <a:ext cx="1828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Zenus API integration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Rain card integration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Aiprise KYC flow live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Oscilar TMS rules configured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578613" y="4103370"/>
            <a:ext cx="1737300" cy="255900"/>
          </a:xfrm>
          <a:prstGeom prst="rect">
            <a:avLst/>
          </a:prstGeom>
          <a:solidFill>
            <a:srgbClr val="14B8A6">
              <a:alpha val="14901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2633477" y="4121658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</a:rPr>
              <a:t>Sandbox live ✓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663445" y="1360170"/>
            <a:ext cx="2011800" cy="310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663445" y="1360170"/>
            <a:ext cx="2011800" cy="3474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773173" y="1387602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WK 5-6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773173" y="1543123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0" lang="en-US" sz="850" u="none" cap="none" strike="noStrike">
                <a:solidFill>
                  <a:srgbClr val="FFFFFF"/>
                </a:solidFill>
              </a:rPr>
              <a:t>INTEGRATE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773173" y="1817370"/>
            <a:ext cx="1828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End-to-end onboarding flow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ACH deposit → card spend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Transaction monitoring live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CS + compliance SOPs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773173" y="4103370"/>
            <a:ext cx="1737300" cy="255900"/>
          </a:xfrm>
          <a:prstGeom prst="rect">
            <a:avLst/>
          </a:prstGeom>
          <a:solidFill>
            <a:srgbClr val="10B981">
              <a:alpha val="14901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828037" y="4121658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</a:rPr>
              <a:t>Internal testing ✓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858005" y="1360170"/>
            <a:ext cx="2011800" cy="310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858005" y="1360170"/>
            <a:ext cx="2011800" cy="3474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967733" y="1387602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WK 7-8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967733" y="1543123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i="0" lang="en-US" sz="850" u="none" cap="none" strike="noStrike">
                <a:solidFill>
                  <a:srgbClr val="FFFFFF"/>
                </a:solidFill>
              </a:rPr>
              <a:t>BETA &amp; LAUNCH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967733" y="1817370"/>
            <a:ext cx="1828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Private beta (100 users)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Bug fixes + QA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CS team trained on SOPs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Char char="•"/>
            </a:pPr>
            <a:r>
              <a:rPr i="0" lang="en-US" sz="950" u="none" cap="none" strike="noStrike">
                <a:solidFill>
                  <a:srgbClr val="475569"/>
                </a:solidFill>
              </a:rPr>
              <a:t>PUBLIC LAUNCH May 1st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967733" y="4103370"/>
            <a:ext cx="1737300" cy="255900"/>
          </a:xfrm>
          <a:prstGeom prst="rect">
            <a:avLst/>
          </a:prstGeom>
          <a:solidFill>
            <a:srgbClr val="8B5CF6">
              <a:alpha val="14901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022597" y="4121658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</a:rPr>
              <a:t>GO LIVE ✓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5" y="4560570"/>
            <a:ext cx="8229600" cy="4116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02925" y="460629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</a:rPr>
              <a:t>Our Ask from Zenus: 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148850" y="4606314"/>
            <a:ext cx="6126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CBD5E1"/>
                </a:solidFill>
              </a:rPr>
              <a:t>FBO agreement sign-off · Sandbox API access · KYC flexibility confirmation · Define your compliance expectations for Pakistan on top of our framework · Go-live approval timeline</a:t>
            </a:r>
            <a:endParaRPr sz="950">
              <a:solidFill>
                <a:srgbClr val="CBD5E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2026-03-09T20:01:31Z</dcterms:created>
  <dc:creator>PptxGenJS</dc:creator>
</cp:coreProperties>
</file>